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384048" cy="6858000"/>
          </a:xfrm>
          <a:prstGeom prst="roundRect">
            <a:avLst>
              <a:gd name="adj" fmla="val 3000"/>
            </a:avLst>
          </a:prstGeom>
          <a:solidFill>
            <a:srgbClr val="D4622B"/>
          </a:solidFill>
          <a:ln w="12700">
            <a:solidFill>
              <a:srgbClr val="D4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2148840"/>
            <a:ext cx="10058400" cy="212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>
                <a:solidFill>
                  <a:srgbClr val="D4622B"/>
                </a:solidFill>
                <a:latin typeface="Consolas"/>
              </a:rPr>
              <a:t>KEVA VISION · DELILAH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0" i="0" dirty="0">
                <a:solidFill>
                  <a:srgbClr val="1C1917"/>
                </a:solidFill>
                <a:latin typeface="Segoe UI"/>
              </a:rPr>
              <a:t>Nobody watches the cameras.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6908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8B7E6F"/>
                </a:solidFill>
                <a:latin typeface="Segoe UI"/>
              </a:rPr>
              <a:t>What we are building, what it found in twenty minutes, and what it will take to finish.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5303520"/>
            <a:ext cx="2743200" cy="10972"/>
          </a:xfrm>
          <a:prstGeom prst="rect">
            <a:avLst/>
          </a:prstGeom>
          <a:solidFill>
            <a:srgbClr val="D4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The problem is not the cameras.</a:t>
            </a:r>
          </a:p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It is the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472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 dirty="0">
                <a:solidFill>
                  <a:srgbClr val="8B7E6F"/>
                </a:solidFill>
                <a:latin typeface="Segoe UI"/>
              </a:rPr>
              <a:t>cameras at Delilah 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8803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~8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4472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of service, every night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8803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≈312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4472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camera-hours a night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070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Nobody can watch 312 hours. So in practice, nobody watches any of it.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Footage gets opened only after something has already gone wrong. It works as evidence. It has never worked as management.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The result: leadership learns what happened in the room from a complaint the next morning, not from the room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IS ALREADY IN THE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No new hardware for the pilot.</a:t>
            </a:r>
          </a:p>
        </p:txBody>
      </p:sp>
      <p:pic>
        <p:nvPicPr>
          <p:cNvPr id="5" name="Picture 4" descr="camera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88" y="1691640"/>
            <a:ext cx="8094518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9963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Every device here is live today on the venue's own UniFi Protect recorder. Keva Vision reads what is already recording. CAM.112 — the reception camera — is the pilot.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1C1917"/>
                </a:solidFill>
                <a:latin typeface="Segoe UI"/>
              </a:rPr>
              <a:t>One night in. One page out.</a:t>
            </a:r>
          </a:p>
        </p:txBody>
      </p:sp>
      <p:pic>
        <p:nvPicPr>
          <p:cNvPr id="5" name="Picture 4" descr="keva_vis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921" y="1389888"/>
            <a:ext cx="7563853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THE MACHINE IS LOOKING 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The room, divided once.</a:t>
            </a:r>
          </a:p>
        </p:txBody>
      </p:sp>
      <p:pic>
        <p:nvPicPr>
          <p:cNvPr id="5" name="Picture 4" descr="frame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540" y="1691640"/>
            <a:ext cx="8440615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9963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Reception · waiting area · dining · the entry line · the main entrance. Drawn once per camera, then reused every night. The plant is masked out — it moves, and moving leaves look like people.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TWENTY MINUTES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The desk was empty three times.</a:t>
            </a:r>
          </a:p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Guests were waiting.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61.1%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472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desk covered · target is 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8803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4472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gaps of a minute or 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8803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4472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guests waited through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070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This is not a capability demo. It is a finding, from twenty minutes of ordinary evening service on 28 July.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Reception went unstaffed three separate times — 3.4 minutes from 08:32, 1.9 minutes from 15:04, and 1.6 minutes from 17:44. During the first, five guests stood in the waiting area with nobody at the desk.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Three times in twenty minutes is not a fluke — it is a pattern nobody could have seen without watching the whole night.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No manager watched this footage. Nobody had to. It arrived as a line on a page the next morning.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THE RESULT, PLAYED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Watch the desk go empty.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45923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8B7E6F"/>
                </a:solidFill>
                <a:latin typeface="Segoe UI"/>
              </a:rPr>
              <a:t>CAM.112 · 2026-07-28, 20:15–20:22 · 96 s · 4× speed. Embedded in this file — press play. Full-resolution master: docs/deck/keva_vision_demo_clip.mp4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TO LOOK FOR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965960"/>
            <a:ext cx="393192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52360" y="21488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D4622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148840"/>
            <a:ext cx="34290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C1917"/>
                </a:solidFill>
                <a:latin typeface="Segoe UI"/>
              </a:rPr>
              <a:t>It opens on ordinary service — the HUD top left reads reception: STAFFED. Watch that 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02666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D4622B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026664"/>
            <a:ext cx="34290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C1917"/>
                </a:solidFill>
                <a:latin typeface="Segoe UI"/>
              </a:rPr>
              <a:t>At 38 seconds it flips to AWAY and the copper bar appears. That is the first of the three gaps, caught 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90448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D4622B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3904487"/>
            <a:ext cx="34290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C1917"/>
                </a:solidFill>
                <a:latin typeface="Segoe UI"/>
              </a:rPr>
              <a:t>Watch 'waiting now' climb to 4 while the desk reads AWAY. Those are the guests standing there with nobody to greet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78231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D4622B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4782312"/>
            <a:ext cx="34290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C1917"/>
                </a:solidFill>
                <a:latin typeface="Segoe UI"/>
              </a:rPr>
              <a:t>Orange box = staff, blue box = guest. The role comes from behaviour, not from uniforms. Names like 'staff1' are face-matched against staff photographs.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5861303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D4622B"/>
                </a:solidFill>
                <a:latin typeface="Consola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5861303"/>
            <a:ext cx="34290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C1917"/>
                </a:solidFill>
                <a:latin typeface="Segoe UI"/>
              </a:rPr>
              <a:t>At 1:28 the desk reads STAFFED again. The gap ran 3.4 minutes of real service.</a:t>
            </a:r>
          </a:p>
        </p:txBody>
      </p:sp>
      <p:pic>
        <p:nvPicPr>
          <p:cNvPr id="19" name="keva_vision_20min_FINAL">
            <a:hlinkClick r:id="" action="ppaction://media"/>
            <a:extLst>
              <a:ext uri="{FF2B5EF4-FFF2-40B4-BE49-F238E27FC236}">
                <a16:creationId xmlns:a16="http://schemas.microsoft.com/office/drawing/2014/main" id="{74E49F36-5A26-ED77-F9D7-875CA24F58A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997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2063" y="1647001"/>
            <a:ext cx="6665802" cy="405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003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LANDS AT 06:00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The finding, on one page.</a:t>
            </a:r>
          </a:p>
        </p:txBody>
      </p:sp>
      <p:pic>
        <p:nvPicPr>
          <p:cNvPr id="5" name="Picture 4" descr="report_answ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177" y="1645920"/>
            <a:ext cx="843534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0474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4622B"/>
                </a:solidFill>
                <a:latin typeface="Consola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047488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7E6F"/>
                </a:solidFill>
                <a:latin typeface="Segoe UI"/>
              </a:rPr>
              <a:t>Every figure carries a confidence label. EXACT means measured directly; PROXY means a stand-in signal; WEAK means do not act on it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338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4622B"/>
                </a:solidFill>
                <a:latin typeface="Consola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5833872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7E6F"/>
                </a:solidFill>
                <a:latin typeface="Segoe UI"/>
              </a:rPr>
              <a:t>Desk coverage is the number we are willing to promise on — it only asks whether anyone is standing at the station, so it never depends on telling people apart.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62025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D4622B"/>
                </a:solidFill>
                <a:latin typeface="Consola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6620256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7E6F"/>
                </a:solidFill>
                <a:latin typeface="Segoe UI"/>
              </a:rPr>
              <a:t>Occupancy — at most 8 in the room — is the other reliable one, for the same reason: it counts bodies visible, not identities.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WHO ACTUALLY HELD THE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Six people, all matched by face.</a:t>
            </a:r>
          </a:p>
        </p:txBody>
      </p:sp>
      <p:pic>
        <p:nvPicPr>
          <p:cNvPr id="5" name="Picture 4" descr="report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10607040" cy="28457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99632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Every one of the six was matched against a staff photograph at 85–100% confidence. Between them they held the desk for 16.3 of the 20 minutes — which is the other way of reading 61%.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THE NUMBER IT GOT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It counted 168 guests. The room held 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19933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D4622B"/>
                </a:solidFill>
                <a:latin typeface="Consolas"/>
              </a:rPr>
              <a:t>WHAT IT REPORTED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1" y="2304288"/>
            <a:ext cx="2834640" cy="10972"/>
          </a:xfrm>
          <a:prstGeom prst="rect">
            <a:avLst/>
          </a:prstGeom>
          <a:solidFill>
            <a:srgbClr val="D4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468880"/>
            <a:ext cx="28803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168 unique guests, tagged WEAK.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953512"/>
            <a:ext cx="28803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Two other counting methods disagreed with it and with each other: a line across the door said 36, a region on the floor said 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069080"/>
            <a:ext cx="28803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In an earlier one-hour run those two methods agreed exactly. On this footage they do not.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BF3F0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9933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C2D12"/>
                </a:solidFill>
                <a:latin typeface="Consolas"/>
              </a:rPr>
              <a:t>WHY IT IS WRONG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9432" y="2304288"/>
            <a:ext cx="2834640" cy="10972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2468880"/>
            <a:ext cx="28803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At most 8 people were ever in the room at once, and the busiest single frame held 10.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374136"/>
            <a:ext cx="28803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Even a complete turnover every two minutes only reaches about 80 people in twenty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4279392"/>
            <a:ext cx="28803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So 168 identities means the system is splitting one person into several as they move — 158 of those 168 never crossed the door at 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5592" y="19933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C1917"/>
                </a:solidFill>
                <a:latin typeface="Consolas"/>
              </a:rPr>
              <a:t>WHY WE ARE SHOWING 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65592" y="2304288"/>
            <a:ext cx="2834640" cy="10972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5592" y="2468880"/>
            <a:ext cx="28803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Because the system said it first. The report prints the word IMPLAUSIBLE next to its own number and tells the reader to use the identity-free count instead.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794760"/>
            <a:ext cx="28803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A tool that hides a bad number costs you a decision. This one refuses to let 168 be quoted.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4700016"/>
            <a:ext cx="28803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The desk-coverage finding on the previous slides does not depend on identity at all, which is exactly why we lead with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382512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647395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8B7E6F"/>
                </a:solidFill>
                <a:latin typeface="Segoe UI"/>
              </a:rPr>
              <a:t>Every figure here is read straight out of the run's own scorecard and summary — including the one it got wrong.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We do not set thresholds.</a:t>
            </a:r>
          </a:p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It learns the 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per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472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reception, dining,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8803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per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4472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20:00 is not 23:00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8803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 i="0">
                <a:solidFill>
                  <a:srgbClr val="D4622B"/>
                </a:solidFill>
                <a:latin typeface="Consolas"/>
              </a:rPr>
              <a:t>per weekday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4472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8B7E6F"/>
                </a:solidFill>
                <a:latin typeface="Segoe UI"/>
              </a:rPr>
              <a:t>Tuesday is not Saturday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6070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The system builds a picture of what normal looks like for this room, at this hour, on this day of the week — from its own history.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Then it raises only what genuinely deviates. Nobody hand-tunes a number, and nobody re-tunes it per venue.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700" b="0" i="0">
                <a:solidFill>
                  <a:srgbClr val="8B7E6F"/>
                </a:solidFill>
                <a:latin typeface="Segoe UI"/>
              </a:rPr>
              <a:t>It has not earned that yet here. This run flagged nothing, because one twenty-minute clip is not a history — the three desk gaps were measured, not flagged. More nights is what turns the second into the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WHERE WE ACTUALLY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C1917"/>
                </a:solidFill>
                <a:latin typeface="Segoe UI"/>
              </a:rPr>
              <a:t>The honest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19933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D4622B"/>
                </a:solidFill>
                <a:latin typeface="Consolas"/>
              </a:rPr>
              <a:t>PROVEN, MEASURED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1" y="2304288"/>
            <a:ext cx="2834640" cy="10972"/>
          </a:xfrm>
          <a:prstGeom prst="rect">
            <a:avLst/>
          </a:prstGeom>
          <a:solidFill>
            <a:srgbClr val="D4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468880"/>
            <a:ext cx="28803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A twenty-minute run produced a real operational finding: three desk gaps, 3.4 min at worst, five guests waiting.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584448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Six staff matched to photographs by face at 85–100% confidence.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279392"/>
            <a:ext cx="28803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The floor geometry now solves exactly, from 36 measured correspondences rather than an estimate.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5184648"/>
            <a:ext cx="28803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Desk coverage and peak occupancy need no identity, so they hold even while identity does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BF3F0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9933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C2D12"/>
                </a:solidFill>
                <a:latin typeface="Consolas"/>
              </a:rPr>
              <a:t>KNOWN GAPS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9432" y="2304288"/>
            <a:ext cx="2834640" cy="10972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2468880"/>
            <a:ext cx="28803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Identity fragments: 205 tracks became 162 chains, and the guest count blew out to 168 against a true ceiling of ~8 in the room.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584448"/>
            <a:ext cx="28803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Greet time is a proximity proxy, and 9 guests were never approached at all — we cannot yet separate a service failure from a measurement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4700016"/>
            <a:ext cx="28803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167 grid cells inside a counted zone never produced a single detection: either nobody stood there, or we are blind there.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5815583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No hand-labelled footage, so the system still grades its own homework.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783080"/>
            <a:ext cx="3364992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D5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5592" y="19933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C1917"/>
                </a:solidFill>
                <a:latin typeface="Consolas"/>
              </a:rPr>
              <a:t>WHAT CLOSES THEM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5592" y="2304288"/>
            <a:ext cx="2834640" cy="10972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65592" y="2468880"/>
            <a:ext cx="28803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A labelling pass — a person marks a few hours of real footage. The single biggest credibility unlock, and what turns 'self-graded' into 'accurate'.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3794760"/>
            <a:ext cx="28803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Re-train the detector on our own frames rather than generic ones, which is what stops the fragmenting.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4700016"/>
            <a:ext cx="28803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A second angle at the entrance, which is what moves counting from a range to a number.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5605272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B7E6F"/>
                </a:solidFill>
                <a:latin typeface="Segoe UI"/>
              </a:rPr>
              <a:t>More nights, so the anomaly baseline has a normal to compare against.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382512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47395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8B7E6F"/>
                </a:solidFill>
                <a:latin typeface="Segoe UI"/>
              </a:rPr>
              <a:t>Every figure here is measured and reproducible from the run artefacts. Nothing on this slide is a projection.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D4622B"/>
                </a:solidFill>
                <a:latin typeface="Consolas"/>
              </a:rPr>
              <a:t>WHAT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 i="0">
                <a:solidFill>
                  <a:srgbClr val="1C1917"/>
                </a:solidFill>
                <a:latin typeface="Segoe UI"/>
              </a:rPr>
              <a:t>Three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39"/>
            <a:ext cx="731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D4622B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10312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1C1917"/>
                </a:solidFill>
                <a:latin typeface="Segoe UI"/>
              </a:rPr>
              <a:t>Approval to run on live footage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578608"/>
            <a:ext cx="9509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7E6F"/>
                </a:solidFill>
                <a:latin typeface="Segoe UI"/>
              </a:rPr>
              <a:t>Move off saved clips and onto the nightly stream from the venue's own recorder. This is the gate that turns a demonstration into a service — and the only way the anomaly baseline ever gets a history to learn from.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00399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447287"/>
            <a:ext cx="731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D4622B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01568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1C1917"/>
                </a:solidFill>
                <a:latin typeface="Segoe UI"/>
              </a:rPr>
              <a:t>Infrastructure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877056"/>
            <a:ext cx="9509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 dirty="0">
                <a:solidFill>
                  <a:srgbClr val="8B7E6F"/>
                </a:solidFill>
                <a:latin typeface="Segoe UI"/>
              </a:rPr>
              <a:t>A GPU machine to process a night's footage before morning. Twenty minutes of one camera renders in five — figure attached separately.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498848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745736"/>
            <a:ext cx="731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D4622B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700016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 i="0">
                <a:solidFill>
                  <a:srgbClr val="1C1917"/>
                </a:solidFill>
                <a:latin typeface="Segoe UI"/>
              </a:rPr>
              <a:t>A second camera angle at the entrance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175504"/>
            <a:ext cx="9509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B7E6F"/>
                </a:solidFill>
                <a:latin typeface="Segoe UI"/>
              </a:rPr>
              <a:t>The one thing software cannot substitute for. It is what fixes the counting problem on the previous slide.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797296"/>
            <a:ext cx="10607040" cy="10972"/>
          </a:xfrm>
          <a:prstGeom prst="rect">
            <a:avLst/>
          </a:prstGeom>
          <a:solidFill>
            <a:srgbClr val="DD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6044183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C1917"/>
                </a:solidFill>
                <a:latin typeface="Segoe UI"/>
              </a:rPr>
              <a:t>What comes back: a nightly one-page report, and an annotated video that jumps straight to the moment worth watching — like the one you just saw.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1484</Words>
  <Application>Microsoft Office PowerPoint</Application>
  <PresentationFormat>Widescreen</PresentationFormat>
  <Paragraphs>118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Shashank Prabhakar</cp:lastModifiedBy>
  <cp:revision>2</cp:revision>
  <dcterms:created xsi:type="dcterms:W3CDTF">2013-01-27T09:14:16Z</dcterms:created>
  <dcterms:modified xsi:type="dcterms:W3CDTF">2026-08-29T19:30:48Z</dcterms:modified>
  <cp:category/>
</cp:coreProperties>
</file>