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84048" cy="6858000"/>
          </a:xfrm>
          <a:prstGeom prst="roundRect">
            <a:avLst>
              <a:gd name="adj" fmla="val 3000"/>
            </a:avLst>
          </a:prstGeom>
          <a:solidFill>
            <a:srgbClr val="D4622B"/>
          </a:solidFill>
          <a:ln w="12700">
            <a:solidFill>
              <a:srgbClr val="D46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148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D4622B"/>
                </a:solidFill>
                <a:latin typeface="Consolas"/>
              </a:rPr>
              <a:t>KEVA VISION · DELILAH 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0" i="0">
                <a:solidFill>
                  <a:srgbClr val="1C1917"/>
                </a:solidFill>
                <a:latin typeface="Segoe UI"/>
              </a:rPr>
              <a:t>Nobody watches the cameras.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06908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8B7E6F"/>
                </a:solidFill>
                <a:latin typeface="Segoe UI"/>
              </a:rPr>
              <a:t>What we are building, what it already measures, and what it will take to finish.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5303520"/>
            <a:ext cx="2743200" cy="10972"/>
          </a:xfrm>
          <a:prstGeom prst="rect">
            <a:avLst/>
          </a:prstGeom>
          <a:solidFill>
            <a:srgbClr val="D4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The problem is not the cameras.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It is the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cameras at Delilah 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~8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of service, every night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≈312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camera-hours a night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60"/>
            <a:ext cx="10607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Nobody can watch 312 hours. So in practice, nobody watches any of it.</a:t>
            </a:r>
          </a:p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Footage gets opened only after something has already gone wrong. It works as evidence. It has never worked as management.</a:t>
            </a:r>
          </a:p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The result: leadership learns what happened in the room from a complaint the next morning, not from the room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WHAT IS ALREADY IN THE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No new hardware for the pilot.</a:t>
            </a:r>
          </a:p>
        </p:txBody>
      </p:sp>
      <p:pic>
        <p:nvPicPr>
          <p:cNvPr id="5" name="Picture 4" descr="camera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588" y="1691640"/>
            <a:ext cx="8094518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199632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Every device here is live today on the venue's own UniFi Protect recorder. Keva Vision reads what is already recording. CAM.112 — the reception camera — is the 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WHAT IT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Four questions, and how sure we can honestly 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4622B"/>
                </a:solidFill>
                <a:latin typeface="Consolas"/>
              </a:rPr>
              <a:t>THE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4622B"/>
                </a:solidFill>
                <a:latin typeface="Consolas"/>
              </a:rPr>
              <a:t>WHY THE FLOOR CARES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9" y="187451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4622B"/>
                </a:solidFill>
                <a:latin typeface="Consolas"/>
              </a:rPr>
              <a:t>WHAT ONE HOUR OF REAL FOOTAGE GAVE US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12848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Was the desk covered?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395728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7E6F"/>
                </a:solidFill>
                <a:latin typeface="Segoe UI"/>
              </a:rPr>
              <a:t>An unstaffed host stand is a guest who walks back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79" y="2395728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97.0% covered, zero gaps. MEASURED — it only asks 'is anyone standing here', so it never depends on telling people apart.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82112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28416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How many guests?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328416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7E6F"/>
                </a:solidFill>
                <a:latin typeface="Segoe UI"/>
              </a:rPr>
              <a:t>A number to reconcile against the POS.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9" y="332841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8 guests. Two independent methods — a door line and a floor region — both returned 8. An ESTIMATE that agreed with itself.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14800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61104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How fast were guests greeted?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4261104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7E6F"/>
                </a:solidFill>
                <a:latin typeface="Segoe UI"/>
              </a:rPr>
              <a:t>The first sixty seconds decide the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4261104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3.4 s — but only 1 of the 8 was ever approached. This is the number we do not yet trust. See the honest slide.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047488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93792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What happened last night?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93792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7E6F"/>
                </a:solidFill>
                <a:latin typeface="Segoe UI"/>
              </a:rPr>
              <a:t>One page, on the desk at 06:00.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5193792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Published, with every figure carrying its own confidence label. A number without one does not go on the page.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980175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217919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8B7E6F"/>
                </a:solidFill>
                <a:latin typeface="Segoe UI"/>
              </a:rPr>
              <a:t>Targets are written down in docs/SUCCESS_CRITERIA.md, so 'good enough' is a decision rather than a moving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1C1917"/>
                </a:solidFill>
                <a:latin typeface="Segoe UI"/>
              </a:rPr>
              <a:t>One night in. One page out.</a:t>
            </a:r>
          </a:p>
        </p:txBody>
      </p:sp>
      <p:pic>
        <p:nvPicPr>
          <p:cNvPr id="5" name="Picture 4" descr="keva_vis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921" y="1389888"/>
            <a:ext cx="756385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WHAT THE MACHINE IS LOOKING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The room, divided once.</a:t>
            </a:r>
          </a:p>
        </p:txBody>
      </p:sp>
      <p:pic>
        <p:nvPicPr>
          <p:cNvPr id="5" name="Picture 4" descr="frame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540" y="1691640"/>
            <a:ext cx="8440615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199632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Reception · waiting area · dining · the entry line · the main entrance. Drawn once per camera, then reused every night. The plant is masked out — it moves, and moving leaves look like people.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THE RESULT, PLAYED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Sixty seconds of it working.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10607040" cy="868680"/>
          </a:xfrm>
          <a:prstGeom prst="roundRect">
            <a:avLst>
              <a:gd name="adj" fmla="val 3000"/>
            </a:avLst>
          </a:prstGeom>
          <a:solidFill>
            <a:srgbClr val="FDF5EF"/>
          </a:solidFill>
          <a:ln w="12700">
            <a:solidFill>
              <a:srgbClr val="D46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D4622B"/>
                </a:solidFill>
                <a:latin typeface="Consolas"/>
              </a:rPr>
              <a:t>▶  docs/deck/keva_vision_demo_clip.mp4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23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CAM.112 · 2026-07-28, 19:43–19:47 · 62 s · 4× speed (one hour of service renders to fifteen minutes)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WHAT TO LOOK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29000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61188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Orange box = staff. Blue box = guest. The system works the role out from behaviour — it is not reading uniforms.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6168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361688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Watch the names: 'staff1' and 'sarah' are face-matched against the staff photos. The rest stay anonymous ids on purpose.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1496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111496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Bottom right, the entry-line counter ticks over as people cross. Crossing the line is what counts as an arrival; standing near the door does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6130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861304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C1917"/>
                </a:solidFill>
                <a:latin typeface="Segoe UI"/>
              </a:rPr>
              <a:t>Watch an id stay with a person as they cross the room. That is the hard part, and it is what August was spent fixing.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FROM PIXELS TO A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This is the raw material. Nobody will ever read it.</a:t>
            </a:r>
          </a:p>
        </p:txBody>
      </p:sp>
      <p:pic>
        <p:nvPicPr>
          <p:cNvPr id="5" name="Picture 4" descr="frame_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035040" cy="3105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78040" y="182880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193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95681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8B7E6F"/>
                </a:solidFill>
                <a:latin typeface="Segoe UI"/>
              </a:rPr>
              <a:t>paths walked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52374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8B7E6F"/>
                </a:solidFill>
                <a:latin typeface="Segoe UI"/>
              </a:rPr>
              <a:t>came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96265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09067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8B7E6F"/>
                </a:solidFill>
                <a:latin typeface="Segoe UI"/>
              </a:rPr>
              <a:t>went 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3666744"/>
            <a:ext cx="42062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3986784"/>
            <a:ext cx="4206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400" b="0" i="0">
                <a:solidFill>
                  <a:srgbClr val="8B7E6F"/>
                </a:solidFill>
                <a:latin typeface="Segoe UI"/>
              </a:rPr>
              <a:t>That is a single twenty-minute window with every path drawn on top of it. It is honest, complete, and completely useless to a manager.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400" b="0" i="0">
                <a:solidFill>
                  <a:srgbClr val="8B7E6F"/>
                </a:solidFill>
                <a:latin typeface="Segoe UI"/>
              </a:rPr>
              <a:t>The whole job of Keva Vision is turning that picture into one sentence a GM can act on: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400" b="0" i="0">
                <a:solidFill>
                  <a:srgbClr val="8B7E6F"/>
                </a:solidFill>
                <a:latin typeface="Segoe UI"/>
              </a:rPr>
              <a:t>“The reception desk held all hour, eight guests came through the door, and only one of them was ever approached.”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ONE HOUR,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What the pilot actually produced.</a:t>
            </a:r>
          </a:p>
        </p:txBody>
      </p:sp>
      <p:pic>
        <p:nvPicPr>
          <p:cNvPr id="5" name="Picture 4" descr="report_ans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298" y="1645920"/>
            <a:ext cx="7423099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04748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5047488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Two independent counting methods — a line across the door and a region on the floor — both returned 8. In July they disagreed, 2 against 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338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833872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Desk coverage is the number we are willing to promise on: it only asks whether anyone is standing there, so it never depends on telling people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6202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D4622B"/>
                </a:solidFill>
                <a:latin typeface="Consola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6620256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Nothing was flagged for review — which means no rule fired, not that nothing happened. The page says so in those words.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WHO ACTUALLY HELD THE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Time at the desk, by person.</a:t>
            </a:r>
          </a:p>
        </p:txBody>
      </p:sp>
      <p:pic>
        <p:nvPicPr>
          <p:cNvPr id="5" name="Picture 4" descr="report_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64" y="1691640"/>
            <a:ext cx="10175966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199632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Five of these are real names, matched to staff photographs by face. The rest are anonymous ids — and some of them are almost certainly the same people, which is exactly why the page says so instead of printing a staff headcount.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ANOMALIES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We do not set thresholds.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It learns the venue.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per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reception, dining,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per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20:00 is not 23:00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8803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D4622B"/>
                </a:solidFill>
                <a:latin typeface="Consolas"/>
              </a:rPr>
              <a:t>per weekday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4472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B7E6F"/>
                </a:solidFill>
                <a:latin typeface="Segoe UI"/>
              </a:rPr>
              <a:t>Tuesday is not Saturday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60"/>
            <a:ext cx="10607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The system builds a picture of what normal looks like for this room, at this hour, on this day of the week — from its own history.</a:t>
            </a:r>
          </a:p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Then it raises only what genuinely deviates from that. Nobody hand-tunes a number, and nobody re-tunes it per venue.</a:t>
            </a:r>
          </a:p>
          <a:p>
            <a:pPr algn="l">
              <a:lnSpc>
                <a:spcPct val="135000"/>
              </a:lnSpc>
              <a:spcAft>
                <a:spcPts val="1300"/>
              </a:spcAft>
            </a:pPr>
            <a:r>
              <a:rPr sz="1700" b="0" i="0">
                <a:solidFill>
                  <a:srgbClr val="8B7E6F"/>
                </a:solidFill>
                <a:latin typeface="Segoe UI"/>
              </a:rPr>
              <a:t>And it reports in the floor's language — “host stand unstaffed during the peak ramp”, not “zone 3 count below threshold”.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WHERE WE ACTUALLY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1C1917"/>
                </a:solidFill>
                <a:latin typeface="Segoe UI"/>
              </a:rPr>
              <a:t>The honest slide.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4992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D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9933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4622B"/>
                </a:solidFill>
                <a:latin typeface="Consolas"/>
              </a:rPr>
              <a:t>PROVEN,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1" y="2304288"/>
            <a:ext cx="2834640" cy="10972"/>
          </a:xfrm>
          <a:prstGeom prst="rect">
            <a:avLst/>
          </a:prstGeom>
          <a:solidFill>
            <a:srgbClr val="D4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468880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A full hour at Delilah ran end to end and published a report: 97% desk coverage, zero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374136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The door line and the floor region both counted 8 guests. Two methods, one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Identity churn is down to 56% of tracks from 83% in July, after a single tuning change.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5184648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Face matching put real names — sarah, staff1 — against time at the desk.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364992" cy="4434840"/>
          </a:xfrm>
          <a:prstGeom prst="roundRect">
            <a:avLst>
              <a:gd name="adj" fmla="val 3000"/>
            </a:avLst>
          </a:prstGeom>
          <a:solidFill>
            <a:srgbClr val="FBF3F0"/>
          </a:solidFill>
          <a:ln w="12700">
            <a:solidFill>
              <a:srgbClr val="DDD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9933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C2D12"/>
                </a:solidFill>
                <a:latin typeface="Consolas"/>
              </a:rPr>
              <a:t>KNOWN GAPS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9432" y="2304288"/>
            <a:ext cx="2834640" cy="10972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468880"/>
            <a:ext cx="2880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Greet time is the weak number: 3.4 s came from one guest out of eight. The other seven were never approached, and we cannot yet tell a real service failure from a measurement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794760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No hand-labelled footage, so the system still grades its own homework. We will not call that accuracy.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4700016"/>
            <a:ext cx="288036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107 grid cells inside a counted zone never produced a single detection — either nobody stood there, or we are blind there.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783080"/>
            <a:ext cx="3364992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D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9933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C1917"/>
                </a:solidFill>
                <a:latin typeface="Consolas"/>
              </a:rPr>
              <a:t>WHAT CLOSES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65592" y="2304288"/>
            <a:ext cx="2834640" cy="10972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2468880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A labelling pass — a person marks a few hours of real footage. The single biggest credibility unlock.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3374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Re-train the detector on our own frames rather than generic ones.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4069080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A second angle at the entrance, which is what moves counting from a range to a number.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4974336"/>
            <a:ext cx="2880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8B7E6F"/>
                </a:solidFill>
                <a:latin typeface="Segoe UI"/>
              </a:rPr>
              <a:t>A language model for the greet question — a different tool for something vision alone cannot answer.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382512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7395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8B7E6F"/>
                </a:solidFill>
                <a:latin typeface="Segoe UI"/>
              </a:rPr>
              <a:t>Every figure on the left is measured and reproducible from the repository. Nothing on this slide is a projection.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4622B"/>
                </a:solidFill>
                <a:latin typeface="Consolas"/>
              </a:rPr>
              <a:t>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1C1917"/>
                </a:solidFill>
                <a:latin typeface="Segoe UI"/>
              </a:rPr>
              <a:t>Three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39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0312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1C1917"/>
                </a:solidFill>
                <a:latin typeface="Segoe UI"/>
              </a:rPr>
              <a:t>Approval to run on live footage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57860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Move off saved clips and onto the nightly stream from the venue's own recorder. This is the gate that turns a demonstration into a service.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00399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7287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40156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1C1917"/>
                </a:solidFill>
                <a:latin typeface="Segoe UI"/>
              </a:rPr>
              <a:t>Infrastructure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87705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A GPU machine to process a night's footage before morning. One hour of one camera took roughly an hour to process — figure attached separately.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498848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45736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D4622B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70001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1C1917"/>
                </a:solidFill>
                <a:latin typeface="Segoe UI"/>
              </a:rPr>
              <a:t>A second camera angle at the entrance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175504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7E6F"/>
                </a:solidFill>
                <a:latin typeface="Segoe UI"/>
              </a:rPr>
              <a:t>The one thing software cannot substitute for. It is what moves guest counting from a range to a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97296"/>
            <a:ext cx="10607040" cy="10972"/>
          </a:xfrm>
          <a:prstGeom prst="rect">
            <a:avLst/>
          </a:prstGeom>
          <a:solidFill>
            <a:srgbClr val="DDD5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44183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1C1917"/>
                </a:solidFill>
                <a:latin typeface="Segoe UI"/>
              </a:rPr>
              <a:t>What comes back: a nightly one-page report, and an annotated video that jumps straight to the moment worth watching.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